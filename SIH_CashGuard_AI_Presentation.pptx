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CashGuard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377440"/>
            <a:ext cx="11155680" cy="54864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2200" b="1">
                <a:solidFill>
                  <a:srgbClr val="38BDF8"/>
                </a:solidFill>
              </a:rPr>
              <a:t>Predictive Analytics Framework for Cybercrime Cash-Withdrawal Hotspots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0">
                <a:solidFill>
                  <a:srgbClr val="DBE4F5"/>
                </a:solidFill>
              </a:rPr>
              <a:t>Smart India Hackathon 2024 · Ministry of Home Affairs · I4C, CIS Division · Theme: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611880"/>
            <a:ext cx="11155680" cy="45720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400" b="0">
                <a:solidFill>
                  <a:srgbClr val="8494B3"/>
                </a:solidFill>
              </a:rPr>
              <a:t>Forecast where fraudsters will withdraw cash in the next 24h — before the money moves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0">
                <a:solidFill>
                  <a:srgbClr val="8494B3"/>
                </a:solidFill>
              </a:rPr>
              <a:t>Predictive Engine · GIS Heatmap · LEA Interface · Alerts &amp; Recovery · Tamper-Evident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The Problem</a:t>
            </a:r>
          </a:p>
          <a:p>
            <a:r>
              <a:rPr sz="1300">
                <a:solidFill>
                  <a:srgbClr val="8494B3"/>
                </a:solidFill>
              </a:rPr>
              <a:t>Reactive today — money moves before police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BE4F5"/>
                </a:solidFill>
              </a:rPr>
              <a:t>• NCRP receives ~8,000 cybercrime complaints per day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BE4F5"/>
                </a:solidFill>
              </a:rPr>
              <a:t>• Most financial fraud losses become irrecoverable once cash is withdrawn from ATMs / branches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BE4F5"/>
                </a:solidFill>
              </a:rPr>
              <a:t>• LEAs and banks act AFTER funds move — the fraud-to-cash-out window is measured in hours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BE4F5"/>
                </a:solidFill>
              </a:rPr>
              <a:t>• RBI is moving toward transfer time-delays — creating an interception window regulators want exploited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303520" cy="237744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38BDF8"/>
                </a:solidFill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Predict likely withdrawal LOCATION + TIME WINDOW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Enable PROACTIVE deployment + faster fund blocking (CFCFRMS)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840480"/>
            <a:ext cx="5303520" cy="201168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38BDF8"/>
                </a:solidFill>
              </a:rPr>
              <a:t>Four official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a) Predictive Analytics Engine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b) GIS Risk Heatmap Dashboard (drill-downs)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c) Secure Law Enforcement Interface + reports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d) Alert &amp; Notification System (SMS/email/API/dashboard)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Architecture</a:t>
            </a:r>
          </a:p>
          <a:p>
            <a:r>
              <a:rPr sz="1300">
                <a:solidFill>
                  <a:srgbClr val="8494B3"/>
                </a:solidFill>
              </a:rPr>
              <a:t>Data → ML → API → Dashboards → Alerts → Recovery — all audit-chained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>
                <a:solidFill>
                  <a:srgbClr val="DBE4F5"/>
                </a:solidFill>
              </a:rPr>
              <a:t>1. DATA — synthetic, calibrated, PII-pseudonymized (tokens + mock vault), 6 crime types, 5 fictional cities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11155680" cy="64008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>
                <a:solidFill>
                  <a:srgbClr val="DBE4F5"/>
                </a:solidFill>
              </a:rPr>
              <a:t>2. ML — 24 leak-free features + Hawkes temporal intensity · XGBoost + Platt · time-based train/val/test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60320"/>
            <a:ext cx="11155680" cy="64008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>
                <a:solidFill>
                  <a:srgbClr val="DBE4F5"/>
                </a:solidFill>
              </a:rPr>
              <a:t>3. API — FastAPI · bcrypt+JWT (access/refresh) · row-level RBAC (Police-State/District, Bank, I4C) · ledger access-audit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46120"/>
            <a:ext cx="11155680" cy="64008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>
                <a:solidFill>
                  <a:srgbClr val="DBE4F5"/>
                </a:solidFill>
              </a:rPr>
              <a:t>4. DASHBOARDS — Police / Bank / I4C · Leaflet map + drill-downs (time, category, location) · WS live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31920"/>
            <a:ext cx="11155680" cy="64008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>
                <a:solidFill>
                  <a:srgbClr val="DBE4F5"/>
                </a:solidFill>
              </a:rPr>
              <a:t>5. ALERTS — graded response playbook · SMS/email mock · REAL webhook → mock I4C inbox · recovery (CFCFRMS) 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617720"/>
            <a:ext cx="11155680" cy="64008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>
                <a:solidFill>
                  <a:srgbClr val="DBE4F5"/>
                </a:solidFill>
              </a:rPr>
              <a:t>6. LEDGER — append-only SHA-256 hash chain: alerts, evidence, reports, fund-blocks, access · verify / tamper-detect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0">
                <a:solidFill>
                  <a:srgbClr val="8494B3"/>
                </a:solidFill>
              </a:rPr>
              <a:t>Swappable layers: SQLite → PostgreSQL (DATABASE_URL) · synthetic → NCRP/CFCFRMS APIs (repositories) · mock SMS → real gateways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The Numbers — read from artifacts/metrics.json</a:t>
            </a:r>
          </a:p>
          <a:p>
            <a:r>
              <a:rPr sz="1300">
                <a:solidFill>
                  <a:srgbClr val="8494B3"/>
                </a:solidFill>
              </a:rPr>
              <a:t>Every metric is measured on SYNTHETIC labels — said out loud,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0" cy="10515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2800" b="1">
                <a:solidFill>
                  <a:srgbClr val="38BDF8"/>
                </a:solidFill>
              </a:rPr>
              <a:t>ROC-AUC 0.9362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188720"/>
            <a:ext cx="5577840" cy="10515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DBE4F5"/>
                </a:solidFill>
              </a:rPr>
              <a:t>Precision@20/50/100/1000 = 1.0 / 1.0 / 1.0 / 0.782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5486400" cy="10515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2000" b="1">
                <a:solidFill>
                  <a:srgbClr val="22C55E"/>
                </a:solidFill>
              </a:rPr>
              <a:t>Threshold (≥0.7) precision 0.7927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377440"/>
            <a:ext cx="5577840" cy="10515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DBE4F5"/>
                </a:solidFill>
              </a:rPr>
              <a:t>Median lead time 14.1 h (IQR 8.4–20.0)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66160"/>
            <a:ext cx="5486400" cy="10515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2000" b="1">
                <a:solidFill>
                  <a:srgbClr val="EAB308"/>
                </a:solidFill>
              </a:rPr>
              <a:t>Lift vs volume 1.176–2.128×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566160"/>
            <a:ext cx="5577840" cy="10515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EAB308"/>
                </a:solidFill>
              </a:rPr>
              <a:t>Lift vs complaint-proximity 10.0–8.333×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Methodology: chronological train/val/test split — early stopping + calibration NEVER touch the test set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Leak-free: fraud_withdrawals_24h removed · is_fraud_withdrawal is label-only · max single-feature AUC 0.8457 (counterparty_count_24h — complaint-linked, prediction-time-safe)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BE4F5"/>
                </a:solidFill>
              </a:rPr>
              <a:t>• Robustness: P@K stable under ±30% calibration perturbation · calibration curve + confusion matrix saved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494B3"/>
                </a:solidFill>
              </a:rPr>
              <a:t>• Real-data harness runnable today (data/real/) — status honestly PENDING_REAL_DATA; nothing invented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Novelty — Self-Exciting Temporal Model</a:t>
            </a:r>
          </a:p>
          <a:p>
            <a:r>
              <a:rPr sz="1300">
                <a:solidFill>
                  <a:srgbClr val="8494B3"/>
                </a:solidFill>
              </a:rPr>
              <a:t>and an honest ensemble disclosure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669280" cy="301752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38BDF8"/>
                </a:solidFill>
              </a:rPr>
              <a:t>Hawkes intensity per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λ(t) = μ + Σ α·exp(−β·(t−tᵢ)) over PAST complaints only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Fitted per city on the training period; α&lt;β stability enforced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Prediction-time safe by construction — unit test asserts no future event enters the sum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Single-feature AUC 0.5217 — weak alone, leak-free (&lt;0.95 gate)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03520" cy="301752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EAB308"/>
                </a:solidFill>
              </a:rPr>
              <a:t>Ensemble — disclosed,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XGB+Hawkes rank-average ensemble AUC 0.8153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vs pure XGBoost AUC 0.9362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The ensemble does NOT win — active model is xgboost; said honestly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Hawkes stays in the feature set; the real novelty is the full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480560"/>
            <a:ext cx="11155680" cy="146304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22C55E"/>
                </a:solidFill>
              </a:rPr>
              <a:t>The loop that wins: prediction → 3-field evidence → graded response playbook → fund-block queue → recovery funnel → every action on the tamper-evident ledger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Explainability — evidence before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669280" cy="31089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38BDF8"/>
                </a:solidFill>
              </a:rPr>
              <a:t>Per-alert Evidence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1. Complaint activity (6h / within 2km)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2. Withdrawal activity (3h / distinct accounts)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3. Context signal with VERIFIED-vs-ASSUMED source disclosure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+ CFCFRMS freeze intel (masked account tokens)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+ graded recommended actions (Response Playbook)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03520" cy="31089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EAB308"/>
                </a:solidFill>
              </a:rPr>
              <a:t>Two explainability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Global: feature importance + instance percentiles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Per-instance: native XGBoost SHAP (pred_contribs) for the alerted ATM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Honest labels: global panel is NOT SHAP; per-instance is labelled 'per-instance'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Anti-profiling: zero demographic features — risk = behaviour + linkage + geography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480560"/>
            <a:ext cx="11155680" cy="91440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EF4444"/>
                </a:solidFill>
              </a:rPr>
              <a:t>Ethics banner everywhere: Advisory only — no automated enforcement; audited human decision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Blockchain &amp; Cybersecurity — Tamper-Evident Ledger</a:t>
            </a:r>
          </a:p>
          <a:p>
            <a:r>
              <a:rPr sz="1300">
                <a:solidFill>
                  <a:srgbClr val="8494B3"/>
                </a:solidFill>
              </a:rPr>
              <a:t>chain-of-custody across agencies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DBE4F5"/>
                </a:solidFill>
              </a:rPr>
              <a:t>• Append-only SHA-256 hash chain (block = index, actor, event, payload_hash, prev, hash)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BE4F5"/>
                </a:solidFill>
              </a:rPr>
              <a:t>• Every alert, evidence snapshot, status change, report, fund-block and access is chained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BE4F5"/>
                </a:solidFill>
              </a:rPr>
              <a:t>• GET /ledger/verify recomputes the chain — tampering is detected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BE4F5"/>
                </a:solidFill>
              </a:rPr>
              <a:t>• Live demo: create alert → verify ✓ → tamper a block → verify ✗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8494B3"/>
                </a:solidFill>
              </a:rPr>
              <a:t>• Honest label: hash chain providing tamper-evidence — NOT a public blockchain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8494B3"/>
                </a:solidFill>
              </a:rPr>
              <a:t>• Tier 2: anchor to a permissioned ledger (Hyperledger Fabric)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34440"/>
            <a:ext cx="4389120" cy="365760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38BDF8"/>
                </a:solidFill>
              </a:rPr>
              <a:t>Why this matters to I4C/MHA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916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Court-facing evidence needs integrity proof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Multi-agency coordination needs non-repudiation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The Blockchain theme is live, not decorative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Recovery — the money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669280" cy="31089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38BDF8"/>
                </a:solidFill>
              </a:rPr>
              <a:t>CFCFRMS fund-blocking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Alerts link to mule account tokens → Fund-Block Recommendations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Bank dashboard queue: freeze_requested → held → recovered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Real webhook path → mock CFCFRMS inbox (integration point proven)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Issuance + status changes appended to the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03520" cy="310896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22C55E"/>
                </a:solidFill>
              </a:rPr>
              <a:t>Recovery funnel (synthetic, labelled)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₹ flagged → ₹ held → ₹ recovered tracked on I4C dashboard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Headline impact metric vs baseline reactive recovery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Outcomes clearly marked synthetic/illustrative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480560"/>
            <a:ext cx="11155680" cy="91440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22C55E"/>
                </a:solidFill>
              </a:rPr>
              <a:t>Faster fund blocking → higher recovery — the exact problem statement's goal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Security &amp;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669280" cy="365760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38BDF8"/>
                </a:solidFill>
              </a:rPr>
              <a:t>Authentication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bcrypt passwords + JWT access/refresh tokens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Roles: POLICE_STATE · POLICE_DISTRICT · BANK · I4C_ADMIN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Row-level scoping enforced in the repository layer (never the frontend)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Every access audit-logged to the ledger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8494B3"/>
                </a:solidFill>
              </a:rPr>
              <a:t>• Demo users: officer.statea · officer.district1 · bank.hdfc · i4c.admin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03520" cy="365760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EAB308"/>
                </a:solidFill>
              </a:rPr>
              <a:t>Privacy &amp; ethics (DPDP posture)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PII pseudonymized — salted tokens + mock re-identification vault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Zero demographic/community/religion/caste features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Data minimization, purpose limitation, access audit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BE4F5"/>
                </a:solidFill>
              </a:rPr>
              <a:t>• Fairness/concentration monitor over geography (Gini tracked)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0">
                <a:solidFill>
                  <a:srgbClr val="8494B3"/>
                </a:solidFill>
              </a:rPr>
              <a:t>Production: OAuth2/OIDC + org SSO · PostgreSQL via DATABASE_URL · real NCRP/CFCFRMS/bank APIs at the marked integration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Live Demo —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</a:rPr>
              <a:t>• 1. LEDGER FIRST (90s): I4C login → run alert cycle → Verify Ledger ✓ → tamper → Verify ✗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DBE4F5"/>
                </a:solidFill>
              </a:rPr>
              <a:t>• 2. Police: map + drill-downs (category, date replay, state→city→bank) → top hotspots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DBE4F5"/>
                </a:solidFill>
              </a:rPr>
              <a:t>• 3. Alert → Details: 3-field evidence + source disclosure + per-instance SHAP + graded actions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DBE4F5"/>
                </a:solidFill>
              </a:rPr>
              <a:t>• 4. PDF Intelligence Report (ledger-fingerprinted) · live WS push to the dashboard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DBE4F5"/>
                </a:solidFill>
              </a:rPr>
              <a:t>• 5. Bank login → fund-block queue → Hold/Recovered → recovery funnel moves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DBE4F5"/>
                </a:solidFill>
              </a:rPr>
              <a:t>• 6. I4C: national stats + inbox (real webhook path) + model metrics panel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C55E"/>
                </a:solidFill>
              </a:rPr>
              <a:t>• 7. Close on the honesty line: synthetic labels, real methodology, runnable real-data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0">
                <a:solidFill>
                  <a:srgbClr val="8494B3"/>
                </a:solidFill>
              </a:rPr>
              <a:t>Fallback ready: DEMO_MODE=true serves the pre-computed golden path — same UI, zero live 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Future Scope — pilot-ready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BE4F5"/>
                </a:solidFill>
              </a:rPr>
              <a:t>• Real-data pilot with I4C/MHA + partner banks — replace synthetic labels with investigation-confirmed withdrawals; re-tune thresholds per city/bank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BE4F5"/>
                </a:solidFill>
              </a:rPr>
              <a:t>• Real-data validation harness already runnable (data/real/)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BE4F5"/>
                </a:solidFill>
              </a:rPr>
              <a:t>• Anchor the hash chain to a permissioned ledger (Hyperledger Fabric) for multi-org consensus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BE4F5"/>
                </a:solidFill>
              </a:rPr>
              <a:t>• Hourly forecasts · district-level routing · true model monitoring &amp; drift detection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BE4F5"/>
                </a:solidFill>
              </a:rPr>
              <a:t>• Kafka ingestion at true NCRP scale (~8,000 complaints/day)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solidFill>
            <a:srgbClr val="111C31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>
                <a:solidFill>
                  <a:srgbClr val="22C55E"/>
                </a:solidFill>
              </a:rPr>
              <a:t>Transfer path: repositories → live APIs · notifier → real gateways · security.py → OAuth2/OIDC — no business-logic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BE4F5"/>
                </a:solidFill>
              </a:rPr>
              <a:t>CashGuard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94560"/>
            <a:ext cx="11155680" cy="54864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2200" b="1">
                <a:solidFill>
                  <a:srgbClr val="38BDF8"/>
                </a:solidFill>
              </a:rPr>
              <a:t>We don't react to cybercrime — we intercept the cash before the criminal can touch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0"/>
            <a:ext cx="11155680" cy="45720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0">
                <a:solidFill>
                  <a:srgbClr val="DBE4F5"/>
                </a:solidFill>
              </a:rPr>
              <a:t>Prediction · Evidence · Intervention · Recovery — audited at every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931920"/>
            <a:ext cx="11155680" cy="45720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0">
                <a:solidFill>
                  <a:srgbClr val="8494B3"/>
                </a:solidFill>
              </a:rPr>
              <a:t>Team: ML · Security/Ledger · Data &amp; Privacy · Demo Lead — each owns a slice, each judge question has a rehearsed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46320"/>
            <a:ext cx="11155680" cy="457200"/>
          </a:xfrm>
          <a:prstGeom prst="rect">
            <a:avLst/>
          </a:prstGeom>
          <a:solidFill>
            <a:srgbClr val="0B1220"/>
          </a:solidFill>
          <a:ln w="9525">
            <a:solidFill>
              <a:srgbClr val="1E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400" b="0">
                <a:solidFill>
                  <a:srgbClr val="22C55E"/>
                </a:solidFill>
              </a:rPr>
              <a:t>Honesty is the feature: every number traces to an artifact, every assumption is labelled, nothing is invented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